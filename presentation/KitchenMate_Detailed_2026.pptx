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8"/>
    <p:sldId id="257" r:id="rId8"/>
    <p:sldId id="258" r:id="rId9"/>
    <p:sldId id="259" r:id="rId10"/>
    <p:sldId id="268" r:id="rId19"/>
    <p:sldId id="260" r:id="rId11"/>
    <p:sldId id="261" r:id="rId12"/>
    <p:sldId id="270" r:id="rId21"/>
    <p:sldId id="262" r:id="rId13"/>
    <p:sldId id="269" r:id="rId20"/>
    <p:sldId id="263" r:id="rId14"/>
    <p:sldId id="264" r:id="rId15"/>
    <p:sldId id="265" r:id="rId16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ภาพรวม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FFFFFF"/>
                </a:solidFill>
                <a:latin typeface="Leelawadee UI"/>
              </a:defRPr>
            </a:pPr>
            <a:r>
              <a:t>KitchenMate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D7E5DB"/>
                </a:solidFill>
                <a:latin typeface="Leelawadee UI"/>
              </a:defRPr>
            </a:pPr>
            <a:r>
              <a:t>คู่มือใช้งานเว็บไซต์ • ฟีเจอร์เด่น • ระบบหลังบ้าน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B8D1C3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086600" cy="3520440"/>
          </a:xfrm>
          <a:prstGeom prst="roundRect">
            <a:avLst>
              <a:gd name="adj" fmla="val 15000"/>
            </a:avLst>
          </a:prstGeom>
          <a:solidFill>
            <a:srgbClr val="29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621792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900" b="1">
                <a:solidFill>
                  <a:srgbClr val="FFFFFF"/>
                </a:solidFill>
                <a:latin typeface="Leelawadee UI"/>
              </a:defRPr>
            </a:pPr>
            <a:r>
              <a:t>ตลาดออนไลน์</a:t>
            </a:r>
          </a:p>
          <a:p>
            <a:pPr>
              <a:spcAft>
                <a:spcPts val="400"/>
              </a:spcAft>
              <a:defRPr sz="3900" b="1">
                <a:solidFill>
                  <a:srgbClr val="FFFFFF"/>
                </a:solidFill>
                <a:latin typeface="Leelawadee UI"/>
              </a:defRPr>
            </a:pPr>
            <a:r>
              <a:t>สำหรับอุปกรณ์ครัว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370832"/>
            <a:ext cx="62179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E3EEE7"/>
                </a:solidFill>
                <a:latin typeface="Leelawadee UI"/>
              </a:defRPr>
            </a:pPr>
            <a:r>
              <a:t>จากเลือกสินค้า → ชำระเงิน → ติดตามคำสั่งซื้อ</a:t>
            </a:r>
          </a:p>
          <a:p>
            <a:pPr>
              <a:spcAft>
                <a:spcPts val="400"/>
              </a:spcAft>
              <a:defRPr sz="1800" b="0">
                <a:solidFill>
                  <a:srgbClr val="E3EEE7"/>
                </a:solidFill>
                <a:latin typeface="Leelawadee UI"/>
              </a:defRPr>
            </a:pPr>
            <a:r>
              <a:t>พร้อมเครื่องมือสำหรับผู้ขายและผู้ดูแลระบบ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423160"/>
            <a:ext cx="329184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624328"/>
            <a:ext cx="5943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ECA459"/>
                </a:solidFill>
                <a:latin typeface="Leelawadee U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8552" y="2624328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ลูกค้า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520440"/>
            <a:ext cx="329184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721608"/>
            <a:ext cx="5943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ECA459"/>
                </a:solidFill>
                <a:latin typeface="Leelawade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3721608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ผู้ขาย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617720"/>
            <a:ext cx="329184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818888"/>
            <a:ext cx="5943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ECA459"/>
                </a:solidFill>
                <a:latin typeface="Leelawadee U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4818888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แอดมิน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ภาพรวม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เว็บไซต์นี้ทำอะไรได้บ้าง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หนึ่งระบบ เชื่อมผู้ซื้อ ร้านค้า และผู้ดูแล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3511296" cy="3246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16712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73F32"/>
                </a:solidFill>
                <a:latin typeface="Leelawade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176272"/>
            <a:ext cx="2633472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73F32"/>
                </a:solidFill>
                <a:latin typeface="Leelawadee UI"/>
              </a:defRPr>
            </a:pPr>
            <a:r>
              <a:t>ลูกค้า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52344"/>
            <a:ext cx="3054096" cy="22951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ค้นหาและเปรียบเทียบสินค้า</a:t>
            </a:r>
          </a:p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ใส่ตะกร้า ใช้คูปอง และชำระเงิน</a:t>
            </a:r>
          </a:p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ดูสถานะคำสั่งซื้อและขอคืนสินค้า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65960"/>
            <a:ext cx="3511296" cy="3246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216712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21284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73F32"/>
                </a:solidFill>
                <a:latin typeface="Leelawade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176272"/>
            <a:ext cx="2633472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73F32"/>
                </a:solidFill>
                <a:latin typeface="Leelawadee UI"/>
              </a:defRPr>
            </a:pPr>
            <a:r>
              <a:t>ผู้ขาย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52344"/>
            <a:ext cx="3054096" cy="22951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จัดการหน้าร้านและสินค้า</a:t>
            </a:r>
          </a:p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ดูคำสั่งซื้อและสต็อก</a:t>
            </a:r>
          </a:p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ติดตามยอดเงินและโปรโมชัน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965960"/>
            <a:ext cx="3511296" cy="3246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19" y="216712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221284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73F32"/>
                </a:solidFill>
                <a:latin typeface="Leelawadee U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176272"/>
            <a:ext cx="2633472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73F32"/>
                </a:solidFill>
                <a:latin typeface="Leelawadee UI"/>
              </a:defRPr>
            </a:pPr>
            <a:r>
              <a:t>แอดมิน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752344"/>
            <a:ext cx="3054096" cy="22951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ดูภาพรวมและดูแลข้อมูลหลัก</a:t>
            </a:r>
          </a:p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ตรวจคำสั่งซื้อ ร้านค้า และสินค้า</a:t>
            </a:r>
          </a:p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ดูรายงาน ความปลอดภัย และการช่วยเหลือ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วิธีใช้งาน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เริ่มซื้อสินค้าใน 4 ขั้นตอน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ตัวอย่างเส้นทางใช้งานของลูกค้า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2606040" cy="3063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2286000"/>
            <a:ext cx="658368" cy="658368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404872"/>
            <a:ext cx="65836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73F32"/>
                </a:solidFill>
                <a:latin typeface="Leelawade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ค้นหา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85615"/>
            <a:ext cx="2176272" cy="9509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เลือกหมวดสินค้า</a:t>
            </a:r>
          </a:p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ค้นหาหรือเรียงรายการ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3200400"/>
            <a:ext cx="25603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ECA459"/>
                </a:solidFill>
                <a:latin typeface="Leelawade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057400"/>
            <a:ext cx="2606040" cy="3063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286000"/>
            <a:ext cx="658368" cy="658368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404872"/>
            <a:ext cx="65836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73F32"/>
                </a:solidFill>
                <a:latin typeface="Leelawade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200400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ดูรายละเอียด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785615"/>
            <a:ext cx="2176272" cy="9509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ดูรูป/วิดีโอ ราคา</a:t>
            </a:r>
          </a:p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รีวิว และข้อมูลร้าน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3200400"/>
            <a:ext cx="25603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ECA459"/>
                </a:solidFill>
                <a:latin typeface="Leelawade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057400"/>
            <a:ext cx="2606040" cy="3063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65392" y="2286000"/>
            <a:ext cx="658368" cy="658368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404872"/>
            <a:ext cx="65836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73F32"/>
                </a:solidFill>
                <a:latin typeface="Leelawadee U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200400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ใส่ตะกร้า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785615"/>
            <a:ext cx="2176272" cy="9509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กำหนดจำนวนสินค้า</a:t>
            </a:r>
          </a:p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ตรวจยอดรวมและคูปอง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3200400"/>
            <a:ext cx="25603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ECA459"/>
                </a:solidFill>
                <a:latin typeface="Leelawadee U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2057400"/>
            <a:ext cx="2606040" cy="3063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45752" y="2286000"/>
            <a:ext cx="658368" cy="658368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2" y="2404872"/>
            <a:ext cx="65836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73F32"/>
                </a:solidFill>
                <a:latin typeface="Leelawadee U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3200400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ชำระเงิน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2" y="3785615"/>
            <a:ext cx="2176272" cy="9509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ระบุที่อยู่ เลือกวิธีจ่าย</a:t>
            </a:r>
          </a:p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แล้วยืนยันคำสั่งซื้อ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5806440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9634E"/>
                </a:solidFill>
                <a:latin typeface="Leelawadee UI"/>
              </a:defRPr>
            </a:pPr>
            <a:r>
              <a:t>เมนูที่ใช้: หน้าแรก → สินค้าทั้งหมด → รายละเอียดสินค้า → ตะกร้า → ชำระเงิน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วิธีใช้งาน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หลังสั่งซื้อ ทำอะไรต่อได้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บัญชีลูกค้ารวมข้อมูลสำคัญไว้ในที่เดียว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5303520" cy="1600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7568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2140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73F32"/>
                </a:solidFill>
                <a:latin typeface="Leelawadee UI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084831"/>
            <a:ext cx="442569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73F32"/>
                </a:solidFill>
                <a:latin typeface="Leelawadee UI"/>
              </a:defRPr>
            </a:pPr>
            <a:r>
              <a:t>คำสั่งซื้อ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60903"/>
            <a:ext cx="4846320" cy="649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เปิด “คำสั่งซื้อของฉัน” เพื่อดูสถานะและรายละเอียด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74519"/>
            <a:ext cx="5303520" cy="1600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207568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2140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73F32"/>
                </a:solidFill>
                <a:latin typeface="Leelawadee UI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2084831"/>
            <a:ext cx="442569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73F32"/>
                </a:solidFill>
                <a:latin typeface="Leelawadee UI"/>
              </a:defRPr>
            </a:pPr>
            <a:r>
              <a:t>รายการโปรด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60903"/>
            <a:ext cx="4846320" cy="649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บันทึกสินค้าที่สนใจไว้กลับมาดูภายหลัง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30752"/>
            <a:ext cx="5303520" cy="1600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93192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73F32"/>
                </a:solidFill>
                <a:latin typeface="Leelawadee UI"/>
              </a:defRPr>
            </a:pPr>
            <a: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941064"/>
            <a:ext cx="442569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73F32"/>
                </a:solidFill>
                <a:latin typeface="Leelawadee UI"/>
              </a:defRPr>
            </a:pPr>
            <a:r>
              <a:t>คูปองของฉัน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17136"/>
            <a:ext cx="4846320" cy="649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รับและเลือกใช้ส่วนลดในขั้นตอนชำระเงิน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730752"/>
            <a:ext cx="5303520" cy="1600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393192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977639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73F32"/>
                </a:solidFill>
                <a:latin typeface="Leelawadee UI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3941064"/>
            <a:ext cx="442569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73F32"/>
                </a:solidFill>
                <a:latin typeface="Leelawadee UI"/>
              </a:defRPr>
            </a:pPr>
            <a:r>
              <a:t>คืนสินค้า / ติดต่อร้าน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17136"/>
            <a:ext cx="4846320" cy="6492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ส่งคำขอคืนสินค้าและพูดคุยกับผู้ขาย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ฟีเจอร์เด่น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ประสบการณ์เลือกซื้อที่ครบ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ฟังก์ชันที่ช่วยตัดสินใจก่อนกดสั่งซื้อ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38528"/>
            <a:ext cx="3502152" cy="1709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2157984"/>
            <a:ext cx="109728" cy="123444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185416"/>
            <a:ext cx="2816352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ค้นหาและตัวกรอง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715768"/>
            <a:ext cx="278892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เลือกหมวดและเรียงสินค้าตามความต้องการ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38528"/>
            <a:ext cx="3502152" cy="1709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4568" y="2157984"/>
            <a:ext cx="109728" cy="123444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2185416"/>
            <a:ext cx="2816352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สื่อสินค้า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715768"/>
            <a:ext cx="278892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ดูภาพหลายมุมและวิดีโอสินค้า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938528"/>
            <a:ext cx="3502152" cy="1709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157984"/>
            <a:ext cx="109728" cy="123444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185416"/>
            <a:ext cx="2816352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รีวิวจากผู้ซื้อ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715768"/>
            <a:ext cx="278892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ดูคะแนนและความคิดเห็นก่อนตัดสินใจ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05072"/>
            <a:ext cx="3502152" cy="1709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4224528"/>
            <a:ext cx="109728" cy="123444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251960"/>
            <a:ext cx="2816352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ติดตามร้าน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782312"/>
            <a:ext cx="278892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เปิดหน้าร้านและติดตามผู้ขาย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005072"/>
            <a:ext cx="3502152" cy="1709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44568" y="4224528"/>
            <a:ext cx="109728" cy="123444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4251960"/>
            <a:ext cx="2816352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แชทกับร้าน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4782312"/>
            <a:ext cx="278892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สอบถามข้อมูลสินค้ากับผู้ขาย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4005072"/>
            <a:ext cx="3502152" cy="1709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93608" y="4224528"/>
            <a:ext cx="109728" cy="123444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67928" y="4251960"/>
            <a:ext cx="2816352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แชร์สินค้า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4782312"/>
            <a:ext cx="278892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ส่งลิงก์สินค้าให้ผู้อื่นได้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ฟีเจอร์เด่น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โปรโมชันและการชำระเงิน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ส่วนลดและทางเลือกจ่ายเงินในจุดเดียว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5486400" cy="3584448"/>
          </a:xfrm>
          <a:prstGeom prst="roundRect">
            <a:avLst>
              <a:gd name="adj" fmla="val 15000"/>
            </a:avLst>
          </a:prstGeom>
          <a:solidFill>
            <a:srgbClr val="29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FFFFFF"/>
                </a:solidFill>
                <a:latin typeface="Leelawadee UI"/>
              </a:defRPr>
            </a:pPr>
            <a:r>
              <a:t>คูปองส่วนลด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461772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Leelawadee UI"/>
              </a:defRPr>
            </a:pPr>
            <a:r>
              <a:t>รับคูปองจากหน้าเว็บ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Leelawadee UI"/>
              </a:defRPr>
            </a:pPr>
            <a:r>
              <a:t>เลือกคูปองที่ใช้ได้ในหน้าชำระเงิน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Leelawadee UI"/>
              </a:defRPr>
            </a:pPr>
            <a:r>
              <a:t>เห็นยอดส่วนลดก่อนยืนยัน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20240"/>
            <a:ext cx="5230368" cy="16276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76272"/>
            <a:ext cx="4480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73F32"/>
                </a:solidFill>
                <a:latin typeface="Leelawadee UI"/>
              </a:defRPr>
            </a:pPr>
            <a:r>
              <a:t>PromptPay QR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52344"/>
            <a:ext cx="4480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แสดง QR สำหรับชำระเงิน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794760"/>
            <a:ext cx="5230368" cy="1709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069080"/>
            <a:ext cx="4572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73F32"/>
                </a:solidFill>
                <a:latin typeface="Leelawadee UI"/>
              </a:defRPr>
            </a:pPr>
            <a:r>
              <a:t>เก็บเงินปลายทาง (COD)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663440"/>
            <a:ext cx="4480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เลือกจ่ายเมื่อรับสินค้า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52160"/>
            <a:ext cx="10881360" cy="338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E7168"/>
                </a:solidFill>
                <a:latin typeface="Leelawadee UI"/>
              </a:defRPr>
            </a:pPr>
            <a:r>
              <a:t>หมายเหตุ: QR เป็นการแสดงข้อมูลชำระเงิน การตรวจยืนยันเงินต้องอาศัยขั้นตอนแยกต่างหาก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ผู้ขาย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ระบบหลังร้านสำหรับผู้ขาย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ตั้งร้าน ขายสินค้า และดูงานประจำวัน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5340096" cy="16642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12140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6712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73F32"/>
                </a:solidFill>
                <a:latin typeface="Leelawade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130552"/>
            <a:ext cx="4462272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73F32"/>
                </a:solidFill>
                <a:latin typeface="Leelawadee UI"/>
              </a:defRPr>
            </a:pPr>
            <a:r>
              <a:t>แดชบอร์ด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06624"/>
            <a:ext cx="4882896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ภาพรวมการขายและงานที่ต้องจัดการ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340096" cy="16642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12140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6712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73F32"/>
                </a:solidFill>
                <a:latin typeface="Leelawade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130552"/>
            <a:ext cx="4462272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73F32"/>
                </a:solidFill>
                <a:latin typeface="Leelawadee UI"/>
              </a:defRPr>
            </a:pPr>
            <a:r>
              <a:t>สินค้าและสต็อก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06624"/>
            <a:ext cx="4882896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ลงสินค้า ปรับข้อมูล ตัวเลือกสินค้า และจำนวนคงเหลือ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858768"/>
            <a:ext cx="5340096" cy="16642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059936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05656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73F32"/>
                </a:solidFill>
                <a:latin typeface="Leelawade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4069080"/>
            <a:ext cx="4462272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73F32"/>
                </a:solidFill>
                <a:latin typeface="Leelawadee UI"/>
              </a:defRPr>
            </a:pPr>
            <a:r>
              <a:t>คำสั่งซื้อ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45152"/>
            <a:ext cx="4882896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ดูออเดอร์และดำเนินการตามสถานะ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58768"/>
            <a:ext cx="5340096" cy="16642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4059936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105656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73F32"/>
                </a:solidFill>
                <a:latin typeface="Leelawade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4069080"/>
            <a:ext cx="4462272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73F32"/>
                </a:solidFill>
                <a:latin typeface="Leelawadee UI"/>
              </a:defRPr>
            </a:pPr>
            <a:r>
              <a:t>กระเป๋าเงิน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645152"/>
            <a:ext cx="4882896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ติดตามยอดเงินและการถอนเงิน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ระบบหลังบ้าน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แอดมิน: ศูนย์ควบคุมเว็บไซต์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เมนูหลักที่ปรากฏในระบบผู้ดูแล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5340096" cy="17007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2139696"/>
            <a:ext cx="91440" cy="1225296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39696"/>
            <a:ext cx="45262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ร้านและสินค้า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06624"/>
            <a:ext cx="4526280" cy="6766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สินค้าของเว็บไซต์ • คำขอผู้ขาย</a:t>
            </a:r>
          </a:p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ร้านค้าและสินค้า • ตรวจสินค้าผู้ขาย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340096" cy="17007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19088" y="2139696"/>
            <a:ext cx="91440" cy="1225296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139696"/>
            <a:ext cx="45262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การขาย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06624"/>
            <a:ext cx="4526280" cy="6766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คำสั่งซื้อ • คืนสินค้าและคืนเงิน</a:t>
            </a:r>
          </a:p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โปรโมชันและคูปอง • โปรโมชัน MALL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877056"/>
            <a:ext cx="5340096" cy="17007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8" y="4096512"/>
            <a:ext cx="91440" cy="1225296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96512"/>
            <a:ext cx="45262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การเงินและบริการ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4526280" cy="6766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ถอนเงินผู้ขาย • ศูนย์ช่วยเหลือลูกค้า</a:t>
            </a:r>
          </a:p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ประวัติการส่งอีเมล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77056"/>
            <a:ext cx="5340096" cy="17007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19088" y="4096512"/>
            <a:ext cx="91440" cy="1225296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096512"/>
            <a:ext cx="45262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ข้อมูลและความปลอดภัย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663440"/>
            <a:ext cx="4526280" cy="6766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ผู้ใช้งานทั้งหมด • รายงานสินค้า</a:t>
            </a:r>
          </a:p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Behavior Analytics • ศูนย์ความปลอดภัย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ระบบหลังบ้าน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งานแอดมินที่ควรสาธิต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ลำดับการใช้งานที่เห็นภาพการทำงานจริง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792224"/>
            <a:ext cx="10954512" cy="6766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56816"/>
            <a:ext cx="594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CA459"/>
                </a:solidFill>
                <a:latin typeface="Leelawadee U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938528"/>
            <a:ext cx="3154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ดูแดชบอร์ด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56816"/>
            <a:ext cx="62179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ดูยอดและรายการที่ต้องติดตาม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624328"/>
            <a:ext cx="10954512" cy="6766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788920"/>
            <a:ext cx="594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CA459"/>
                </a:solidFill>
                <a:latin typeface="Leelawade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770632"/>
            <a:ext cx="3154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จัดการสินค้า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88920"/>
            <a:ext cx="62179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เพิ่ม/แก้ไขสินค้าและข้อมูลหน้าร้าน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456432"/>
            <a:ext cx="10954512" cy="6766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621024"/>
            <a:ext cx="594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CA459"/>
                </a:solidFill>
                <a:latin typeface="Leelawadee U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602736"/>
            <a:ext cx="3154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จัดการคำสั่งซื้อ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621024"/>
            <a:ext cx="62179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เปิดรายละเอียดและปรับสถานะ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288536"/>
            <a:ext cx="10954512" cy="6766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453127"/>
            <a:ext cx="594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CA459"/>
                </a:solidFill>
                <a:latin typeface="Leelawadee U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4434840"/>
            <a:ext cx="3154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ดูแลผู้ขาย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453127"/>
            <a:ext cx="62179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ตรวจคำขอ ร้านค้า และสินค้าผู้ขาย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120640"/>
            <a:ext cx="10954512" cy="6766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85231"/>
            <a:ext cx="594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CA459"/>
                </a:solidFill>
                <a:latin typeface="Leelawadee UI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5266944"/>
            <a:ext cx="3154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ดูแลลูกค้า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285231"/>
            <a:ext cx="62179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จัดการคำขอคืนสินค้าและเคสช่วยเหลือ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ภาพรวมระบบ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FFFFFF"/>
                </a:solidFill>
                <a:latin typeface="Leelawadee UI"/>
              </a:defRPr>
            </a:pPr>
            <a:r>
              <a:t>เส้นทางข้อมูลในหนึ่งคำสั่งซื้อ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D7E5DB"/>
                </a:solidFill>
                <a:latin typeface="Leelawadee UI"/>
              </a:defRPr>
            </a:pPr>
            <a:r>
              <a:t>ทุกฝ่ายเห็นข้อมูลตามบทบาทของตน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B8D1C3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474720" cy="2468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0175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73F32"/>
                </a:solidFill>
                <a:latin typeface="Leelawadee UI"/>
              </a:defRPr>
            </a:pPr>
            <a:r>
              <a:t>ลูกค้า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292608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700" b="0">
                <a:solidFill>
                  <a:srgbClr val="5E7168"/>
                </a:solidFill>
                <a:latin typeface="Leelawadee UI"/>
              </a:defRPr>
            </a:pPr>
            <a:r>
              <a:t>เลือกสินค้า</a:t>
            </a:r>
          </a:p>
          <a:p>
            <a:pPr algn="ctr">
              <a:spcAft>
                <a:spcPts val="400"/>
              </a:spcAft>
              <a:defRPr sz="1700" b="0">
                <a:solidFill>
                  <a:srgbClr val="5E7168"/>
                </a:solidFill>
                <a:latin typeface="Leelawadee UI"/>
              </a:defRPr>
            </a:pPr>
            <a:r>
              <a:t>และสั่งซื้อ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474720" cy="2468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0175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73F32"/>
                </a:solidFill>
                <a:latin typeface="Leelawadee UI"/>
              </a:defRPr>
            </a:pPr>
            <a:r>
              <a:t>ผู้ขาย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172968"/>
            <a:ext cx="292608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700" b="0">
                <a:solidFill>
                  <a:srgbClr val="5E7168"/>
                </a:solidFill>
                <a:latin typeface="Leelawadee UI"/>
              </a:defRPr>
            </a:pPr>
            <a:r>
              <a:t>รับออเดอร์</a:t>
            </a:r>
          </a:p>
          <a:p>
            <a:pPr algn="ctr">
              <a:spcAft>
                <a:spcPts val="400"/>
              </a:spcAft>
              <a:defRPr sz="1700" b="0">
                <a:solidFill>
                  <a:srgbClr val="5E7168"/>
                </a:solidFill>
                <a:latin typeface="Leelawadee UI"/>
              </a:defRPr>
            </a:pPr>
            <a:r>
              <a:t>และจัดส่ง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48840"/>
            <a:ext cx="3474720" cy="2468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68880"/>
            <a:ext cx="30175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73F32"/>
                </a:solidFill>
                <a:latin typeface="Leelawadee UI"/>
              </a:defRPr>
            </a:pPr>
            <a:r>
              <a:t>แอดมิน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72968"/>
            <a:ext cx="292608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700" b="0">
                <a:solidFill>
                  <a:srgbClr val="5E7168"/>
                </a:solidFill>
                <a:latin typeface="Leelawadee UI"/>
              </a:defRPr>
            </a:pPr>
            <a:r>
              <a:t>กำกับดูแล</a:t>
            </a:r>
          </a:p>
          <a:p>
            <a:pPr algn="ctr">
              <a:spcAft>
                <a:spcPts val="400"/>
              </a:spcAft>
              <a:defRPr sz="1700" b="0">
                <a:solidFill>
                  <a:srgbClr val="5E7168"/>
                </a:solidFill>
                <a:latin typeface="Leelawadee UI"/>
              </a:defRPr>
            </a:pPr>
            <a:r>
              <a:t>และช่วยแก้ปัญหา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3090672"/>
            <a:ext cx="274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ECA459"/>
                </a:solidFill>
                <a:latin typeface="Leelawadee U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3090672"/>
            <a:ext cx="274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ECA459"/>
                </a:solidFill>
                <a:latin typeface="Leelawadee U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5340096"/>
            <a:ext cx="99669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Leelawadee UI"/>
              </a:defRPr>
            </a:pPr>
            <a:r>
              <a:t>เป้าหมาย: ซื้อได้สะดวก • ร้านจัดการได้ง่าย • ผู้ดูแลตรวจสอบได้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สรุป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KitchenMate ใน 3 ประโยค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หัวข้อสำหรับปิดการนำเสนอ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11680"/>
            <a:ext cx="10762488" cy="8595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49424"/>
            <a:ext cx="685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ECA459"/>
                </a:solidFill>
                <a:latin typeface="Leelawadee U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12848"/>
            <a:ext cx="92354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ลูกค้าค้นหา เลือกซื้อ และติดตามคำสั่งซื้อได้ครบ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136392"/>
            <a:ext cx="10762488" cy="8595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374136"/>
            <a:ext cx="685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ECA459"/>
                </a:solidFill>
                <a:latin typeface="Leelawade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37560"/>
            <a:ext cx="92354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ร้านค้าจัดการสินค้า ออเดอร์ และยอดเงินได้ในระบบ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61104"/>
            <a:ext cx="10762488" cy="8595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498848"/>
            <a:ext cx="685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ECA459"/>
                </a:solidFill>
                <a:latin typeface="Leelawade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62272"/>
            <a:ext cx="92354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73F32"/>
                </a:solidFill>
                <a:latin typeface="Leelawadee UI"/>
              </a:defRPr>
            </a:pPr>
            <a:r>
              <a:t>แอดมินดูแลคุณภาพร้าน การขาย และความปลอดภัย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ภาพหน้าเว็บจริง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หน้าแรกและทางเข้าสู่สินค้า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ภาพหน้าจอจากเว็บไซต์ KitchenMate ที่เปิดใช้งานบนเครื่องนี้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pic>
        <p:nvPicPr>
          <p:cNvPr id="8" name="Picture 7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6776"/>
            <a:ext cx="80924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87968" y="1636776"/>
            <a:ext cx="2688336" cy="4754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25712" y="1901952"/>
            <a:ext cx="2221992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จุดที่ควรชี้ให้เห็น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34856" y="269748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7192" y="266090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ช่องค้นหาสินค้า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6" y="352044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7192" y="348386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เมนูหมวดสินค้า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6" y="434340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7192" y="430682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แบนเนอร์สินค้า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516636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512978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จุดเริ่มต้นการเลือกซื้อ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ภาพหน้าเว็บจริง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การเข้าสู่ระบบสมาชิก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ภาพหน้าจอจากเว็บไซต์ KitchenMate ที่เปิดใช้งานบนเครื่องนี้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6776"/>
            <a:ext cx="80924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87968" y="1636776"/>
            <a:ext cx="2688336" cy="4754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25712" y="1901952"/>
            <a:ext cx="2221992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จุดที่ควรชี้ให้เห็น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34856" y="269748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7192" y="266090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กรอกชื่อผู้ใช้หรืออีเมล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6" y="352044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7192" y="348386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กรอกรหัสผ่าน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6" y="434340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7192" y="430682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ไปหน้าสมัครสมาชิก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516636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512978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ใช้บัญชีดูคำสั่งซื้อ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ภาพหน้าเว็บจริง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เริ่มต้นเปิดร้านในระบบ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ภาพหน้าจอจากเว็บไซต์ KitchenMate ที่เปิดใช้งานบนเครื่องนี้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pic>
        <p:nvPicPr>
          <p:cNvPr id="8" name="Picture 7" descr="seller-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6776"/>
            <a:ext cx="80924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87968" y="1636776"/>
            <a:ext cx="2688336" cy="4754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25712" y="1901952"/>
            <a:ext cx="2221992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จุดที่ควรชี้ให้เห็น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34856" y="269748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7192" y="266090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สมัครบัญชีผู้ขาย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6" y="352044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7192" y="348386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ยืนยันข้อมูลทางอีเมล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6" y="434340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7192" y="430682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กรอกข้อมูลบัญชี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516636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512978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เข้าสู่ขั้นตอนตั้งร้าน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ภาพหน้าเว็บจริง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โปรโมชันบนหน้าแรก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ภาพหน้าจอจากเว็บไซต์ KitchenMate ที่เปิดใช้งานบนเครื่องนี้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pic>
        <p:nvPicPr>
          <p:cNvPr id="8" name="Picture 7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6776"/>
            <a:ext cx="80924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87968" y="1636776"/>
            <a:ext cx="2688336" cy="4754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25712" y="1901952"/>
            <a:ext cx="2221992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จุดที่ควรชี้ให้เห็น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34856" y="269748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7192" y="266090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แสดงโปรโมชันเด่น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6" y="352044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7192" y="348386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มีปุ่มรับคูปอง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6" y="434340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7192" y="430682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ลูกค้าใช้สิทธิ์ได้จากหน้าเว็บ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5166360"/>
            <a:ext cx="365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CA459"/>
                </a:solidFill>
                <a:latin typeface="Leelawade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5129784"/>
            <a:ext cx="178308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73F32"/>
                </a:solidFill>
                <a:latin typeface="Leelawadee UI"/>
              </a:defRPr>
            </a:pPr>
            <a:r>
              <a:t>แสดงร่วมกับเนื้อหาหน้าแรก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คู่มือลูกค้า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ค้นหาและเลือกสินค้าให้ตรงใจ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ตัวอย่างการใช้งานหน้ารายการสินค้า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02996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03120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993392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เริ่มจากช่องค้นหา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02536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พิมพ์ชื่อหรือชนิดอุปกรณ์ครัว แล้วกดค้นหา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71216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" y="3054096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127248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017520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เลือกหมวด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26664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ใช้เมนูหมวดสินค้าเพื่อจำกัดรายการ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95344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" y="4078224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51376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041648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ปรับตัวกรอง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50791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กำหนดช่วงราคาและการจัดเรียงตามที่ต้องการ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19472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5102352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175504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065776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เปิดรายละเอียด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074920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ตรวจราคา รูปสินค้า คำอธิบาย และข้อมูลร้านก่อนซื้อ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คู่มือลูกค้า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อ่านหน้าสินค้าก่อนกดซื้อ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ข้อมูลที่ควรตรวจทุกครั้ง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02996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03120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993392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ภาพและวิดีโอ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02536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ดูภาพหลายมุมหรือวิดีโอเมื่อสินค้ามีสื่อประกอบ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71216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" y="3054096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127248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017520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ตัวเลือกสินค้า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26664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เลือกแบบหรือจำนวนที่ต้องการ และดูสถานะพร้อมส่ง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95344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" y="4078224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51376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041648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รีวิวและร้านค้า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50791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อ่านคะแนน ความเห็นผู้ซื้อ และข้อมูลผู้ขาย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19472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5102352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175504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065776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ตัดสินใจ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074920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เพิ่มลงตะกร้า บันทึกรายการโปรด หรือแชทถามร้าน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คู่มือลูกค้า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ตรวจตะกร้าและชำระเงิน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ลำดับที่ควรอธิบายบนหน้าจอ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02996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03120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993392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ตรวจสินค้า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02536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ยืนยันชื่อ ราคา จำนวน และยอดรวมในตะกร้า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71216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" y="3054096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127248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017520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ระบุที่อยู่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26664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เลือกหรือกรอกที่อยู่สำหรับจัดส่ง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95344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" y="4078224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51376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041648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ใช้คูปอง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50791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เลือกคูปองที่ใช้ได้ แล้วตรวจยอดส่วนลด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19472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5102352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175504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065776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เลือกวิธีจ่าย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074920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เลือก PromptPay QR หรือเก็บเงินปลายทาง จากนั้นยืนยันคำสั่งซื้อ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คู่มือลูกค้า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ติดตามคำสั่งซื้อและบริการหลังการขาย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หลังยืนยันคำสั่งซื้อ ลูกค้าเข้าถึงข้อมูลได้จากบัญชี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02996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03120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993392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ดูรายการสั่งซื้อ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02536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เปิด “คำสั่งซื้อของฉัน” เพื่อดูออเดอร์ทั้งหมด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71216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" y="3054096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127248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017520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ตรวจสถานะ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26664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ดูสถานะ เช่น รอดำเนินการ กำลังแพ็ก จัดส่ง และสำเร็จ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95344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" y="4078224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51376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041648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เปิดรายละเอียด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50791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ตรวจสินค้า จำนวน ที่อยู่ และข้อมูลการชำระเงิน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19472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5102352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175504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065776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ขอความช่วยเหลือ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074920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ติดต่อร้านหรือยื่นคำขอคืนสินค้าเมื่อเข้าเงื่อนไข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คู่มือผู้ขาย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งานประจำวันของผู้ขาย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เส้นทางตั้งแต่ลงสินค้าไปจนถึงรับเงิน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02996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03120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993392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ตั้งค่าร้าน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02536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สมัครผู้ขาย ยืนยันข้อมูล และจัดทำหน้าร้าน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71216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" y="3054096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127248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017520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จัดการสินค้า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26664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เพิ่มรูป คำอธิบาย ราคา ตัวเลือก และสต็อก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95344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" y="4078224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51376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041648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รับคำสั่งซื้อ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50791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ตรวจรายการใหม่ เตรียมสินค้า และอัปเดตสถานะ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19472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5102352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175504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065776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ดูการเงิน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074920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ติดตามยอดในกระเป๋าเงินและรายการถอนเงิน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คู่มือแอดมิน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จัดการคำสั่งซื้อและการคืนสินค้า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รายการงานหลักในระบบหลังบ้าน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02996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03120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993392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ค้นหาออเดอร์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02536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เปิดเมนูคำสั่งซื้อเพื่อดูรายการและรายละเอียด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71216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" y="3054096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127248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017520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ตรวจการชำระเงิน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26664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ดูวิธีชำระและสถานะที่ระบบบันทึก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95344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" y="4078224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51376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041648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อัปเดตการดำเนินงาน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50791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ปรับสถานะตามขั้นตอนแพ็ก จัดส่ง หรือปิดรายการ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19472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5102352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175504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065776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ดูคำขอคืน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074920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เปิดเมนูคืนสินค้าและคืนเงินเพื่อตรวจคำขอ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คู่มือแอดมิน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ดูแลสินค้า ร้านค้า และผู้ขาย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จุดตรวจคุณภาพของตลาดออนไลน์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02996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03120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993392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สินค้าของเว็บไซต์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02536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เพิ่มหรือแก้ไขข้อมูลสินค้าหลัก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71216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" y="3054096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127248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017520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คำขอผู้ขาย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26664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ตรวจข้อมูลผู้สมัครและสถานะการอนุมัติ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95344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" y="4078224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51376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041648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ร้านค้าและสินค้า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50791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เปิดดูร้านและรายการสินค้าของผู้ขาย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19472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5102352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175504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065776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รายงานสินค้า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074920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ตรวจรายการที่ถูกรายงานและดำเนินการตามข้อมูล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CA459"/>
                </a:solidFill>
                <a:latin typeface="Leelawadee UI"/>
              </a:defRPr>
            </a:pPr>
            <a:r>
              <a:t>คู่มือแอดมิน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73F32"/>
                </a:solidFill>
                <a:latin typeface="Leelawadee UI"/>
              </a:defRPr>
            </a:pPr>
            <a:r>
              <a:t>โปรโมชัน ข้อมูล และความปลอดภัย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71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7168"/>
                </a:solidFill>
                <a:latin typeface="Leelawadee UI"/>
              </a:defRPr>
            </a:pPr>
            <a:r>
              <a:t>เครื่องมือช่วยบริหารเว็บไซต์ต่อเนื่อง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0972"/>
          </a:xfrm>
          <a:prstGeom prst="rect">
            <a:avLst/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574536"/>
            <a:ext cx="5486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E7168"/>
                </a:solidFill>
                <a:latin typeface="Leelawadee UI"/>
              </a:defRPr>
            </a:pPr>
            <a:r>
              <a:t>KITCHENMATE  •  คู่มือการใช้งาน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029968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03120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993392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โปรโมชันและคูปอง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02536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จัดการแคมเปญส่วนลดและโปรโมชัน MALL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71216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" y="3054096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127248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017520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Behavior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26664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ดูข้อมูลพฤติกรรมเพื่อปรับปรุงการใช้งาน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95344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" y="4078224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51376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041648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ศูนย์ช่วยเหลือ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50791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ติดตามคำขอของลูกค้าและประวัติอีเมล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19472"/>
            <a:ext cx="109270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5102352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ECA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175504"/>
            <a:ext cx="411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73F32"/>
                </a:solidFill>
                <a:latin typeface="Leelawade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065776"/>
            <a:ext cx="2926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F32"/>
                </a:solidFill>
                <a:latin typeface="Leelawadee UI"/>
              </a:defRPr>
            </a:pPr>
            <a:r>
              <a:t>ศูนย์ความปลอดภัย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074920"/>
            <a:ext cx="6812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E7168"/>
                </a:solidFill>
                <a:latin typeface="Leelawadee UI"/>
              </a:defRPr>
            </a:pPr>
            <a:r>
              <a:t>ตรวจเหตุการณ์และดูแลผู้ใช้งานในระบบ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